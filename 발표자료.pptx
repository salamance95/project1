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1" r:id="rId14"/>
    <p:sldId id="27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3" d="100"/>
          <a:sy n="53" d="100"/>
        </p:scale>
        <p:origin x="53" y="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588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인사와 한 줄 소개. 오늘은 기능 소개가 아니라 안에서 실제로 일하는 코드를 다섯 군데 보여드린다고 예고합니다.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한 문장 요약. 추천을 AI에 통째로 맡기지 않고 트레이너가 하던 판단을 규칙으로 옮긴 것이 이 프로젝트의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오늘 순서. 다섯 부분으로 나눠 진행하며, 가장 긴 3부에서 핵심 코드를 다섯 군데 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종이 계획이 무너지는 세 가지 이유. 특히 3번(부상)은 운동 앱에서 안전 문제라는 점을 강조합니다.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서비스가 도는 한 바퀴. 설문에서 시작해 분석으로 끝나고 다시 다음 주 루틴으로 돌아옵니다.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요청 하나가 라우트에서 응답까지 가는 길. 검증·캐시·오류 처리를 한 곳으로 모아 둔 이야기를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안전은 이 서비스의 첫 관문입니다. 막는 조건은 세 줄뿐이지만, 막고 끝내지 않고 대체 운동 사슬을 따라가는 게 핵심입니다. 실제로 무릎 통증을 고르면 백스쿼트 → 고블릿 스쿼트 → 박스 스쿼트로 내려갑니다.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열량은 기초대사량에서 출발해 활동량과 목표로 조정합니다. 중요한 건 바닥을 깔아둔 것 — 감량 목표라도 기초대사량 아래로는 내려가지 않습니다. 그리고 강도에 따라 탄수화물만 움직입니다.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사용자가 문장으로 적은 식단을 숫자로 바꾸는 부분입니다. 처음엔 문장 전체에서 숫자를 찾다가 오트밀이 계란의 3개를 가져가는 버그가 있었습니다. 음식마다 자기 구간을 주는 방식으로 고쳤습니다.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사진으로 식단을 입력하는 기능입니다. AI에게는 읽기만 시키고 계산은 우리 영양표가 합니다. 다만 표에 없는 음식이 0kcal로 빠지는 문제가 있어서, 모르는 음식만 AI 추정치를 받도록 고쳤습니다.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못 한 날을 어떻게 복구하는지입니다. 쉬는 날을 먼저 쓰고, 없으면 가벼운 날과 바꿉니다. 자리가 아예 없으면 억지로 넣지 않고 다음 주로 이월한다고 사용자에게 알립니다.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요일별 표를 없애고 달력 한 칸에 계획·부위·열량을 모두 담았습니다. 색만으로는 부족해 이름을 같이 넣은 이야기.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앞으로 개선할 점 네 가지. 특히 사진 식단 분석은 붙여만 둔 상태라, 실제 사진으로 정확도를 재고 정식 기능으로 굳히는 것이 가장 먼저입니다.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마무리. 질문 받습니다.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37160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5DCAA5"/>
                </a:solidFill>
                <a:latin typeface="Consolas"/>
                <a:ea typeface="Consolas"/>
                <a:cs typeface="Consolas"/>
              </a:rPr>
              <a:t>AI FITNESS PLANNER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828800"/>
            <a:ext cx="11057839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4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운동은 계획보다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400" b="1">
                <a:solidFill>
                  <a:srgbClr val="F0996B"/>
                </a:solidFill>
                <a:latin typeface="맑은 고딕"/>
                <a:ea typeface="맑은 고딕"/>
                <a:cs typeface="맑은 고딕"/>
              </a:rPr>
              <a:t>지키는 쪽</a:t>
            </a:r>
            <a:r>
              <a:rPr sz="54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이 어렵다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977639"/>
            <a:ext cx="7863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500" b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설문 한 번으로 일주일 운동과 식단을 짜고, 못 지킨 날은 스스로 고쳐 잡는 웹 서비스.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983480"/>
            <a:ext cx="11057839" cy="9525"/>
          </a:xfrm>
          <a:prstGeom prst="rect">
            <a:avLst/>
          </a:prstGeom>
          <a:solidFill>
            <a:srgbClr val="2C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5212080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1">
                <a:solidFill>
                  <a:srgbClr val="6D7B8D"/>
                </a:solidFill>
                <a:latin typeface="Consolas"/>
                <a:ea typeface="Consolas"/>
                <a:cs typeface="Consolas"/>
              </a:rPr>
              <a:t>FRONTEND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React + Vite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55848" y="5212080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1">
                <a:solidFill>
                  <a:srgbClr val="6D7B8D"/>
                </a:solidFill>
                <a:latin typeface="Consolas"/>
                <a:ea typeface="Consolas"/>
                <a:cs typeface="Consolas"/>
              </a:rPr>
              <a:t>BACKEND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Express + Drizzle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4768" y="5212080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1">
                <a:solidFill>
                  <a:srgbClr val="6D7B8D"/>
                </a:solidFill>
                <a:latin typeface="Consolas"/>
                <a:ea typeface="Consolas"/>
                <a:cs typeface="Consolas"/>
              </a:rPr>
              <a:t>코드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14,900줄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33688" y="5212080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1">
                <a:solidFill>
                  <a:srgbClr val="6D7B8D"/>
                </a:solidFill>
                <a:latin typeface="Consolas"/>
                <a:ea typeface="Consolas"/>
                <a:cs typeface="Consolas"/>
              </a:rPr>
              <a:t>발표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10분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E5FF5AA-51F0-85A2-E7AF-2D0E923C1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7662" y="567009"/>
            <a:ext cx="3347786" cy="38678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5DCAA5"/>
                </a:solidFill>
                <a:latin typeface="맑은 고딕"/>
                <a:ea typeface="맑은 고딕"/>
                <a:cs typeface="맑은 고딕"/>
              </a:rPr>
              <a:t>02   </a:t>
            </a:r>
            <a:r>
              <a:rPr sz="1100" b="1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개요</a:t>
            </a:r>
          </a:p>
          <a:p>
            <a:endParaRPr sz="1100" b="1">
              <a:solidFill>
                <a:srgbClr val="A7B3C4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57839" cy="9525"/>
          </a:xfrm>
          <a:prstGeom prst="rect">
            <a:avLst/>
          </a:prstGeom>
          <a:solidFill>
            <a:srgbClr val="2C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5783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한 문장으로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설문 한 번으로 일주일 운동과 식단을 만들고, 기록을 읽어 다음 주를 다시 짜는 웹 서비스.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00" b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추천을 AI에 맡기지 않고, 트레이너가 하던 판단을 규칙으로 옮기는 데 무게를 뒀습니다.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108960"/>
            <a:ext cx="3503066" cy="2286000"/>
          </a:xfrm>
          <a:prstGeom prst="roundRect">
            <a:avLst>
              <a:gd name="adj" fmla="val 4000"/>
            </a:avLst>
          </a:prstGeom>
          <a:solidFill>
            <a:srgbClr val="151B24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3108960"/>
            <a:ext cx="3503066" cy="45720"/>
          </a:xfrm>
          <a:prstGeom prst="rect">
            <a:avLst/>
          </a:prstGeom>
          <a:solidFill>
            <a:srgbClr val="F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3383280"/>
            <a:ext cx="3045866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000" b="1">
                <a:solidFill>
                  <a:srgbClr val="F0996B"/>
                </a:solidFill>
                <a:latin typeface="Consolas"/>
                <a:ea typeface="Consolas"/>
                <a:cs typeface="Consolas"/>
              </a:rPr>
              <a:t>문제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계획은 쉽고 유지가 어렵다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00" b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하루를 빠뜨리면 나머지 엿새가 어긋나고, 운동 강도와 무관하게 같은 식단이 나오고, 아픈 곳을 묻지 않습니다.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4314" y="3108960"/>
            <a:ext cx="3503066" cy="2286000"/>
          </a:xfrm>
          <a:prstGeom prst="roundRect">
            <a:avLst>
              <a:gd name="adj" fmla="val 4000"/>
            </a:avLst>
          </a:prstGeom>
          <a:solidFill>
            <a:srgbClr val="151B24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4314" y="3108960"/>
            <a:ext cx="3503066" cy="45720"/>
          </a:xfrm>
          <a:prstGeom prst="rect">
            <a:avLst/>
          </a:prstGeom>
          <a:solidFill>
            <a:srgbClr val="5DC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2058" y="3383280"/>
            <a:ext cx="3045866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000" b="1">
                <a:solidFill>
                  <a:srgbClr val="5DCAA5"/>
                </a:solidFill>
                <a:latin typeface="Consolas"/>
                <a:ea typeface="Consolas"/>
                <a:cs typeface="Consolas"/>
              </a:rPr>
              <a:t>해결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판단을 규칙으로 옮겼다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00" b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안전 관문으로 걸러내고, 그날 강도에 맞춰 식단을 계산하고, 못 한 날은 남은 요일로 다시 배치합니다. AI는 사진을 읽는 자리에만 씁니다.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1700" y="3108960"/>
            <a:ext cx="3503066" cy="2286000"/>
          </a:xfrm>
          <a:prstGeom prst="roundRect">
            <a:avLst>
              <a:gd name="adj" fmla="val 4000"/>
            </a:avLst>
          </a:prstGeom>
          <a:solidFill>
            <a:srgbClr val="151B24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21700" y="3108960"/>
            <a:ext cx="3503066" cy="45720"/>
          </a:xfrm>
          <a:prstGeom prst="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59444" y="3383280"/>
            <a:ext cx="3045866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000" b="1">
                <a:solidFill>
                  <a:srgbClr val="E3B04B"/>
                </a:solidFill>
                <a:latin typeface="Consolas"/>
                <a:ea typeface="Consolas"/>
                <a:cs typeface="Consolas"/>
              </a:rPr>
              <a:t>결과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돌아가는 서비스 하나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00" b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API 29개 · 테이블 23개 · 운동 38종 · 음식 77종. 파이썬 백엔드를 JavaScript로 옮기고 응답 24/24 일치를 확인했습니다.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5DCAA5"/>
                </a:solidFill>
                <a:latin typeface="맑은 고딕"/>
                <a:ea typeface="맑은 고딕"/>
                <a:cs typeface="맑은 고딕"/>
              </a:rPr>
              <a:t>03   </a:t>
            </a:r>
            <a:r>
              <a:rPr sz="1100" b="1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  <a:p>
            <a:endParaRPr sz="1100" b="1">
              <a:solidFill>
                <a:srgbClr val="A7B3C4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57839" cy="9525"/>
          </a:xfrm>
          <a:prstGeom prst="rect">
            <a:avLst/>
          </a:prstGeom>
          <a:solidFill>
            <a:srgbClr val="2C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5783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오늘 순서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14884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5DCAA5"/>
                </a:solidFill>
                <a:latin typeface="Consolas"/>
                <a:ea typeface="Consolas"/>
                <a:cs typeface="Consolas"/>
              </a:rPr>
              <a:t>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2148840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배경과 구조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87568" y="2203704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6D7B8D"/>
                </a:solidFill>
                <a:latin typeface="맑은 고딕"/>
                <a:ea typeface="맑은 고딕"/>
                <a:cs typeface="맑은 고딕"/>
              </a:rPr>
              <a:t>왜 만들었나 · 어떤 층으로 나눴나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715768"/>
            <a:ext cx="11057839" cy="9525"/>
          </a:xfrm>
          <a:prstGeom prst="rect">
            <a:avLst/>
          </a:prstGeom>
          <a:solidFill>
            <a:srgbClr val="2C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2935224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F0996B"/>
                </a:solidFill>
                <a:latin typeface="Consolas"/>
                <a:ea typeface="Consolas"/>
                <a:cs typeface="Consolas"/>
              </a:rPr>
              <a:t>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2935224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백엔드 구현 방식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87568" y="2990088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6D7B8D"/>
                </a:solidFill>
                <a:latin typeface="맑은 고딕"/>
                <a:ea typeface="맑은 고딕"/>
                <a:cs typeface="맑은 고딕"/>
              </a:rPr>
              <a:t>요청 하나가 지나가는 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502152"/>
            <a:ext cx="11057839" cy="9525"/>
          </a:xfrm>
          <a:prstGeom prst="rect">
            <a:avLst/>
          </a:prstGeom>
          <a:solidFill>
            <a:srgbClr val="2C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3721608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5DCAA5"/>
                </a:solidFill>
                <a:latin typeface="Consolas"/>
                <a:ea typeface="Consolas"/>
                <a:cs typeface="Consolas"/>
              </a:rPr>
              <a:t>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4168" y="3721608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핵심 코드 다섯 장면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87568" y="3776472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6D7B8D"/>
                </a:solidFill>
                <a:latin typeface="맑은 고딕"/>
                <a:ea typeface="맑은 고딕"/>
                <a:cs typeface="맑은 고딕"/>
              </a:rPr>
              <a:t>안전 · 영양 · 한국어 처리 · AI 연동 · 재배치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288536"/>
            <a:ext cx="11057839" cy="9525"/>
          </a:xfrm>
          <a:prstGeom prst="rect">
            <a:avLst/>
          </a:prstGeom>
          <a:solidFill>
            <a:srgbClr val="2C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4507992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ko-KR" sz="1700" b="1" dirty="0">
                <a:solidFill>
                  <a:srgbClr val="F0996B"/>
                </a:solidFill>
                <a:latin typeface="Consolas"/>
                <a:ea typeface="Consolas"/>
                <a:cs typeface="Consolas"/>
              </a:rPr>
              <a:t>Ⅳ</a:t>
            </a:r>
            <a:endParaRPr sz="1700" b="1" dirty="0">
              <a:solidFill>
                <a:srgbClr val="F0996B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44168" y="4507992"/>
            <a:ext cx="4206240" cy="292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700" b="1" dirty="0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앞으로 개선할 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87568" y="4562856"/>
            <a:ext cx="4937760" cy="1981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150" dirty="0">
                <a:solidFill>
                  <a:srgbClr val="6D7B8D"/>
                </a:solidFill>
                <a:latin typeface="맑은 고딕"/>
                <a:ea typeface="맑은 고딕"/>
                <a:cs typeface="맑은 고딕"/>
              </a:rPr>
              <a:t>지금의 한계와 다음에 할 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5074920"/>
            <a:ext cx="11057839" cy="9525"/>
          </a:xfrm>
          <a:prstGeom prst="rect">
            <a:avLst/>
          </a:prstGeom>
          <a:solidFill>
            <a:srgbClr val="2C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5DCAA5"/>
                </a:solidFill>
                <a:latin typeface="맑은 고딕"/>
                <a:ea typeface="맑은 고딕"/>
                <a:cs typeface="맑은 고딕"/>
              </a:rPr>
              <a:t>04   </a:t>
            </a:r>
            <a:r>
              <a:rPr sz="1100" b="1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문제</a:t>
            </a:r>
          </a:p>
          <a:p>
            <a:endParaRPr sz="1100" b="1">
              <a:solidFill>
                <a:srgbClr val="A7B3C4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57839" cy="9525"/>
          </a:xfrm>
          <a:prstGeom prst="rect">
            <a:avLst/>
          </a:prstGeom>
          <a:solidFill>
            <a:srgbClr val="2C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5783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계획은 완벽한데,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월요일이 지나면 쓸모가 없어진다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65960"/>
            <a:ext cx="53949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F0996B"/>
                </a:solidFill>
                <a:latin typeface="맑은 고딕"/>
                <a:ea typeface="맑은 고딕"/>
                <a:cs typeface="맑은 고딕"/>
              </a:rPr>
              <a:t>01   </a:t>
            </a:r>
            <a:r>
              <a:rPr sz="15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하루를 빠뜨리면 계획이 무너진다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종이에 적은 루틴은 하루 밀리는 순간 나머지 엿새가 전부 어긋납니다.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017520"/>
            <a:ext cx="53949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5DCAA5"/>
                </a:solidFill>
                <a:latin typeface="맑은 고딕"/>
                <a:ea typeface="맑은 고딕"/>
                <a:cs typeface="맑은 고딕"/>
              </a:rPr>
              <a:t>02   </a:t>
            </a:r>
            <a:r>
              <a:rPr sz="15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운동과 식단이 따로 논다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다리 운동을 한 날과 쉬는 날의 필요 열량은 다른데, 대부분 같은 식단을 줍니다.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069080"/>
            <a:ext cx="53949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F0996B"/>
                </a:solidFill>
                <a:latin typeface="맑은 고딕"/>
                <a:ea typeface="맑은 고딕"/>
                <a:cs typeface="맑은 고딕"/>
              </a:rPr>
              <a:t>03   </a:t>
            </a:r>
            <a:r>
              <a:rPr sz="15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아픈 곳을 묻지 않는다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무릎이 아파도 스쿼트를 추천합니다. 운동 앱에서 이건 안전 문제입니다.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19088" y="1965960"/>
            <a:ext cx="5394960" cy="1463040"/>
          </a:xfrm>
          <a:prstGeom prst="roundRect">
            <a:avLst>
              <a:gd name="adj" fmla="val 4000"/>
            </a:avLst>
          </a:prstGeom>
          <a:solidFill>
            <a:srgbClr val="151B24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19088" y="1965960"/>
            <a:ext cx="41148" cy="1463040"/>
          </a:xfrm>
          <a:prstGeom prst="rect">
            <a:avLst/>
          </a:prstGeom>
          <a:solidFill>
            <a:srgbClr val="F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0256" y="2093976"/>
            <a:ext cx="5047488" cy="1243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F0996B"/>
                </a:solidFill>
                <a:latin typeface="Consolas"/>
                <a:ea typeface="Consolas"/>
                <a:cs typeface="Consolas"/>
              </a:rPr>
              <a:t>↓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그래서 세 가지를 자동으로 했습니다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아픈 곳을 먼저 걸러내고, 그날 운동 강도에 맞춰 식단을 계산하고, 못 한 날은 남은 요일로 다시 배치합니다.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19088" y="3657600"/>
            <a:ext cx="5394960" cy="914400"/>
          </a:xfrm>
          <a:prstGeom prst="roundRect">
            <a:avLst>
              <a:gd name="adj" fmla="val 4000"/>
            </a:avLst>
          </a:prstGeom>
          <a:solidFill>
            <a:srgbClr val="1D2531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0256" y="3785616"/>
            <a:ext cx="5047488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1">
                <a:solidFill>
                  <a:srgbClr val="6D7B8D"/>
                </a:solidFill>
                <a:latin typeface="맑은 고딕"/>
                <a:ea typeface="맑은 고딕"/>
                <a:cs typeface="맑은 고딕"/>
              </a:rPr>
              <a:t>이 발표에서 보실 것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사람이 판단하던 것을 </a:t>
            </a:r>
            <a:r>
              <a:rPr sz="1150" b="1">
                <a:solidFill>
                  <a:srgbClr val="5DCAA5"/>
                </a:solidFill>
                <a:latin typeface="Consolas"/>
                <a:ea typeface="Consolas"/>
                <a:cs typeface="Consolas"/>
              </a:rPr>
              <a:t>규칙으로 옮긴 코드</a:t>
            </a:r>
            <a:r>
              <a:rPr sz="11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다섯 군데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5DCAA5"/>
                </a:solidFill>
                <a:latin typeface="맑은 고딕"/>
                <a:ea typeface="맑은 고딕"/>
                <a:cs typeface="맑은 고딕"/>
              </a:rPr>
              <a:t>05   </a:t>
            </a:r>
            <a:r>
              <a:rPr sz="1100" b="1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무엇을 만들었나</a:t>
            </a:r>
          </a:p>
          <a:p>
            <a:endParaRPr sz="1100" b="1">
              <a:solidFill>
                <a:srgbClr val="A7B3C4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57839" cy="9525"/>
          </a:xfrm>
          <a:prstGeom prst="rect">
            <a:avLst/>
          </a:prstGeom>
          <a:solidFill>
            <a:srgbClr val="2C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5783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설문에서 시작해 기록으로 돌아오는 한 바퀴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65960"/>
            <a:ext cx="2065263" cy="2057400"/>
          </a:xfrm>
          <a:prstGeom prst="roundRect">
            <a:avLst>
              <a:gd name="adj" fmla="val 4000"/>
            </a:avLst>
          </a:prstGeom>
          <a:solidFill>
            <a:srgbClr val="151B24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965960"/>
            <a:ext cx="2065263" cy="45720"/>
          </a:xfrm>
          <a:prstGeom prst="rect">
            <a:avLst/>
          </a:prstGeom>
          <a:solidFill>
            <a:srgbClr val="F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2194560"/>
            <a:ext cx="1699503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1">
                <a:solidFill>
                  <a:srgbClr val="6D7B8D"/>
                </a:solidFill>
                <a:latin typeface="Consolas"/>
                <a:ea typeface="Consolas"/>
                <a:cs typeface="Consolas"/>
              </a:rPr>
              <a:t>STEP 1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5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설문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목표·경험·빈도·시간·부상·보유 기구를 묻습니다.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5071" y="1965960"/>
            <a:ext cx="2065263" cy="2057400"/>
          </a:xfrm>
          <a:prstGeom prst="roundRect">
            <a:avLst>
              <a:gd name="adj" fmla="val 4000"/>
            </a:avLst>
          </a:prstGeom>
          <a:solidFill>
            <a:srgbClr val="151B24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15071" y="1965960"/>
            <a:ext cx="2065263" cy="45720"/>
          </a:xfrm>
          <a:prstGeom prst="rect">
            <a:avLst/>
          </a:prstGeom>
          <a:solidFill>
            <a:srgbClr val="5DC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97951" y="2194560"/>
            <a:ext cx="1699503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1">
                <a:solidFill>
                  <a:srgbClr val="6D7B8D"/>
                </a:solidFill>
                <a:latin typeface="Consolas"/>
                <a:ea typeface="Consolas"/>
                <a:cs typeface="Consolas"/>
              </a:rPr>
              <a:t>STEP 2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5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안전 확인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답변에서 위험 신호를 찾아 막을 것과 경고할 것을 정합니다.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63215" y="1965960"/>
            <a:ext cx="2065263" cy="2057400"/>
          </a:xfrm>
          <a:prstGeom prst="roundRect">
            <a:avLst>
              <a:gd name="adj" fmla="val 4000"/>
            </a:avLst>
          </a:prstGeom>
          <a:solidFill>
            <a:srgbClr val="151B24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63215" y="1965960"/>
            <a:ext cx="2065263" cy="45720"/>
          </a:xfrm>
          <a:prstGeom prst="rect">
            <a:avLst/>
          </a:prstGeom>
          <a:solidFill>
            <a:srgbClr val="F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46095" y="2194560"/>
            <a:ext cx="1699503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1">
                <a:solidFill>
                  <a:srgbClr val="6D7B8D"/>
                </a:solidFill>
                <a:latin typeface="Consolas"/>
                <a:ea typeface="Consolas"/>
                <a:cs typeface="Consolas"/>
              </a:rPr>
              <a:t>STEP 3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5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루틴 생성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요일마다 운동을 배치하고, 그 강도에 맞는 식단을 붙입니다.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1359" y="1965960"/>
            <a:ext cx="2065263" cy="2057400"/>
          </a:xfrm>
          <a:prstGeom prst="roundRect">
            <a:avLst>
              <a:gd name="adj" fmla="val 4000"/>
            </a:avLst>
          </a:prstGeom>
          <a:solidFill>
            <a:srgbClr val="151B24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1359" y="1965960"/>
            <a:ext cx="2065263" cy="45720"/>
          </a:xfrm>
          <a:prstGeom prst="rect">
            <a:avLst/>
          </a:prstGeom>
          <a:solidFill>
            <a:srgbClr val="5DC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4239" y="2194560"/>
            <a:ext cx="1699503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1">
                <a:solidFill>
                  <a:srgbClr val="6D7B8D"/>
                </a:solidFill>
                <a:latin typeface="Consolas"/>
                <a:ea typeface="Consolas"/>
                <a:cs typeface="Consolas"/>
              </a:rPr>
              <a:t>STEP 4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5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기록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달력에서 운동과 식단을 남깁니다. 사진으로도 입력됩니다.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59503" y="1965960"/>
            <a:ext cx="2065263" cy="2057400"/>
          </a:xfrm>
          <a:prstGeom prst="roundRect">
            <a:avLst>
              <a:gd name="adj" fmla="val 4000"/>
            </a:avLst>
          </a:prstGeom>
          <a:solidFill>
            <a:srgbClr val="151B24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559503" y="1965960"/>
            <a:ext cx="2065263" cy="45720"/>
          </a:xfrm>
          <a:prstGeom prst="rect">
            <a:avLst/>
          </a:prstGeom>
          <a:solidFill>
            <a:srgbClr val="F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42383" y="2194560"/>
            <a:ext cx="1699503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00" b="1">
                <a:solidFill>
                  <a:srgbClr val="6D7B8D"/>
                </a:solidFill>
                <a:latin typeface="Consolas"/>
                <a:ea typeface="Consolas"/>
                <a:cs typeface="Consolas"/>
              </a:rPr>
              <a:t>STEP 5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5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분석·보정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수행률을 계산하고 다음 주 루틴을 다시 만듭니다.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297680"/>
            <a:ext cx="2627299" cy="1234440"/>
          </a:xfrm>
          <a:prstGeom prst="roundRect">
            <a:avLst>
              <a:gd name="adj" fmla="val 4000"/>
            </a:avLst>
          </a:prstGeom>
          <a:solidFill>
            <a:srgbClr val="151B24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8096" y="4443984"/>
            <a:ext cx="226153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3000" b="1">
                <a:solidFill>
                  <a:srgbClr val="5DCAA5"/>
                </a:solidFill>
                <a:latin typeface="맑은 고딕"/>
                <a:ea typeface="맑은 고딕"/>
                <a:cs typeface="맑은 고딕"/>
              </a:rPr>
              <a:t>38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운동 데이터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77107" y="4297680"/>
            <a:ext cx="2627299" cy="1234440"/>
          </a:xfrm>
          <a:prstGeom prst="roundRect">
            <a:avLst>
              <a:gd name="adj" fmla="val 4000"/>
            </a:avLst>
          </a:prstGeom>
          <a:solidFill>
            <a:srgbClr val="151B24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78275" y="4443984"/>
            <a:ext cx="226153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3000" b="1">
                <a:solidFill>
                  <a:srgbClr val="F0996B"/>
                </a:solidFill>
                <a:latin typeface="맑은 고딕"/>
                <a:ea typeface="맑은 고딕"/>
                <a:cs typeface="맑은 고딕"/>
              </a:rPr>
              <a:t>77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음식 영양표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7287" y="4297680"/>
            <a:ext cx="2627299" cy="1234440"/>
          </a:xfrm>
          <a:prstGeom prst="roundRect">
            <a:avLst>
              <a:gd name="adj" fmla="val 4000"/>
            </a:avLst>
          </a:prstGeom>
          <a:solidFill>
            <a:srgbClr val="151B24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88455" y="4443984"/>
            <a:ext cx="226153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3000" b="1">
                <a:solidFill>
                  <a:srgbClr val="5DCAA5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API 엔드포인트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97467" y="4297680"/>
            <a:ext cx="2627299" cy="1234440"/>
          </a:xfrm>
          <a:prstGeom prst="roundRect">
            <a:avLst>
              <a:gd name="adj" fmla="val 4000"/>
            </a:avLst>
          </a:prstGeom>
          <a:solidFill>
            <a:srgbClr val="151B24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98635" y="4443984"/>
            <a:ext cx="226153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3000" b="1">
                <a:solidFill>
                  <a:srgbClr val="F0996B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데이터베이스 테이블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3808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dirty="0">
                <a:solidFill>
                  <a:srgbClr val="5DCAA5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lang="en-US" sz="1100" b="1" dirty="0">
                <a:solidFill>
                  <a:srgbClr val="5DCAA5"/>
                </a:solidFill>
                <a:latin typeface="맑은 고딕"/>
                <a:ea typeface="맑은 고딕"/>
                <a:cs typeface="맑은 고딕"/>
              </a:rPr>
              <a:t>6</a:t>
            </a:r>
            <a:r>
              <a:rPr sz="1100" b="1" dirty="0">
                <a:solidFill>
                  <a:srgbClr val="5DCAA5"/>
                </a:solidFill>
                <a:latin typeface="맑은 고딕"/>
                <a:ea typeface="맑은 고딕"/>
                <a:cs typeface="맑은 고딕"/>
              </a:rPr>
              <a:t>   </a:t>
            </a:r>
            <a:r>
              <a:rPr sz="1100" b="1" dirty="0" err="1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백엔드</a:t>
            </a:r>
            <a:r>
              <a:rPr sz="1100" b="1" dirty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 err="1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구현</a:t>
            </a:r>
            <a:r>
              <a:rPr sz="1100" b="1" dirty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 err="1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방식</a:t>
            </a:r>
            <a:endParaRPr sz="1100" b="1" dirty="0">
              <a:solidFill>
                <a:srgbClr val="A7B3C4"/>
              </a:solidFill>
              <a:latin typeface="맑은 고딕"/>
              <a:ea typeface="맑은 고딕"/>
              <a:cs typeface="맑은 고딕"/>
            </a:endParaRPr>
          </a:p>
          <a:p>
            <a:endParaRPr sz="1100" b="1" dirty="0">
              <a:solidFill>
                <a:srgbClr val="A7B3C4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57839" cy="9525"/>
          </a:xfrm>
          <a:prstGeom prst="rect">
            <a:avLst/>
          </a:prstGeom>
          <a:solidFill>
            <a:srgbClr val="2C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5783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요청 하나가 지나가는 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65960"/>
            <a:ext cx="6720840" cy="786384"/>
          </a:xfrm>
          <a:prstGeom prst="roundRect">
            <a:avLst>
              <a:gd name="adj" fmla="val 4000"/>
            </a:avLst>
          </a:prstGeom>
          <a:solidFill>
            <a:srgbClr val="151B24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965960"/>
            <a:ext cx="41148" cy="786384"/>
          </a:xfrm>
          <a:prstGeom prst="rect">
            <a:avLst/>
          </a:prstGeom>
          <a:solidFill>
            <a:srgbClr val="5DC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2066544"/>
            <a:ext cx="626364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1">
                <a:solidFill>
                  <a:srgbClr val="6D7B8D"/>
                </a:solidFill>
                <a:latin typeface="맑은 고딕"/>
                <a:ea typeface="맑은 고딕"/>
                <a:cs typeface="맑은 고딕"/>
              </a:rPr>
              <a:t>1    </a:t>
            </a:r>
            <a:r>
              <a:rPr sz="125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경로   router.post("/recommend-routines")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모든 핸들러를 wrap()으로 감쌌습니다. 비동기 안에서 터진 오류도 놓치지 않고 오류 처리로 넘어갑니다.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62072"/>
            <a:ext cx="6720840" cy="786384"/>
          </a:xfrm>
          <a:prstGeom prst="roundRect">
            <a:avLst>
              <a:gd name="adj" fmla="val 4000"/>
            </a:avLst>
          </a:prstGeom>
          <a:solidFill>
            <a:srgbClr val="151B24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2862072"/>
            <a:ext cx="41148" cy="786384"/>
          </a:xfrm>
          <a:prstGeom prst="rect">
            <a:avLst/>
          </a:prstGeom>
          <a:solidFill>
            <a:srgbClr val="F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2962656"/>
            <a:ext cx="626364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1">
                <a:solidFill>
                  <a:srgbClr val="6D7B8D"/>
                </a:solidFill>
                <a:latin typeface="맑은 고딕"/>
                <a:ea typeface="맑은 고딕"/>
                <a:cs typeface="맑은 고딕"/>
              </a:rPr>
              <a:t>2    </a:t>
            </a:r>
            <a:r>
              <a:rPr sz="125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검증   parseBody(schema, req.body)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zod로 검사하고, 실패하면 FastAPI와 같은 모양의 422를 돌려줍니다. 프론트엔드가 두 백엔드를 구분하지 않아도 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758184"/>
            <a:ext cx="6720840" cy="786384"/>
          </a:xfrm>
          <a:prstGeom prst="roundRect">
            <a:avLst>
              <a:gd name="adj" fmla="val 4000"/>
            </a:avLst>
          </a:prstGeom>
          <a:solidFill>
            <a:srgbClr val="151B24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6928" y="3758184"/>
            <a:ext cx="41148" cy="786384"/>
          </a:xfrm>
          <a:prstGeom prst="rect">
            <a:avLst/>
          </a:prstGeom>
          <a:solidFill>
            <a:srgbClr val="5DC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" y="3858768"/>
            <a:ext cx="626364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1">
                <a:solidFill>
                  <a:srgbClr val="6D7B8D"/>
                </a:solidFill>
                <a:latin typeface="맑은 고딕"/>
                <a:ea typeface="맑은 고딕"/>
                <a:cs typeface="맑은 고딕"/>
              </a:rPr>
              <a:t>3    </a:t>
            </a:r>
            <a:r>
              <a:rPr sz="125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판단   checkProfile() → buildPlans()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안전 관문에서 막히면 계획을 아예 만들지 않고 사유만 돌려줍니다. 여기서부터는 데이터베이스를 모릅니다.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654296"/>
            <a:ext cx="6720840" cy="786384"/>
          </a:xfrm>
          <a:prstGeom prst="roundRect">
            <a:avLst>
              <a:gd name="adj" fmla="val 4000"/>
            </a:avLst>
          </a:prstGeom>
          <a:solidFill>
            <a:srgbClr val="151B24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6928" y="4654296"/>
            <a:ext cx="41148" cy="786384"/>
          </a:xfrm>
          <a:prstGeom prst="rect">
            <a:avLst/>
          </a:prstGeom>
          <a:solidFill>
            <a:srgbClr val="F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4754880"/>
            <a:ext cx="626364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1">
                <a:solidFill>
                  <a:srgbClr val="6D7B8D"/>
                </a:solidFill>
                <a:latin typeface="맑은 고딕"/>
                <a:ea typeface="맑은 고딕"/>
                <a:cs typeface="맑은 고딕"/>
              </a:rPr>
              <a:t>4    </a:t>
            </a:r>
            <a:r>
              <a:rPr sz="125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저장   crud.savePlan() · Drizzle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SQL을 직접 쓰지 않고 스키마로 다룹니다. 테이블 컬럼 이름을 파이썬 쪽과 한 글자까지 맞췄습니다.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550408"/>
            <a:ext cx="6720840" cy="786384"/>
          </a:xfrm>
          <a:prstGeom prst="roundRect">
            <a:avLst>
              <a:gd name="adj" fmla="val 4000"/>
            </a:avLst>
          </a:prstGeom>
          <a:solidFill>
            <a:srgbClr val="151B24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6928" y="5550408"/>
            <a:ext cx="41148" cy="786384"/>
          </a:xfrm>
          <a:prstGeom prst="rect">
            <a:avLst/>
          </a:prstGeom>
          <a:solidFill>
            <a:srgbClr val="5DC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5650992"/>
            <a:ext cx="626364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1">
                <a:solidFill>
                  <a:srgbClr val="6D7B8D"/>
                </a:solidFill>
                <a:latin typeface="맑은 고딕"/>
                <a:ea typeface="맑은 고딕"/>
                <a:cs typeface="맑은 고딕"/>
              </a:rPr>
              <a:t>5    </a:t>
            </a:r>
            <a:r>
              <a:rPr sz="125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응답   res.json(...)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오류는 한 곳의 미들웨어가 { detail } 형태로 통일해 내보내고, 500만 로그에 남깁니다.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62088" y="1965960"/>
            <a:ext cx="4062679" cy="1417320"/>
          </a:xfrm>
          <a:prstGeom prst="roundRect">
            <a:avLst>
              <a:gd name="adj" fmla="val 4000"/>
            </a:avLst>
          </a:prstGeom>
          <a:solidFill>
            <a:srgbClr val="151B24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562088" y="1965960"/>
            <a:ext cx="41148" cy="1417320"/>
          </a:xfrm>
          <a:prstGeom prst="rect">
            <a:avLst/>
          </a:prstGeom>
          <a:solidFill>
            <a:srgbClr val="5DC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63256" y="2093976"/>
            <a:ext cx="3715207" cy="1197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5DCAA5"/>
                </a:solidFill>
                <a:latin typeface="Consolas"/>
                <a:ea typeface="Consolas"/>
                <a:cs typeface="Consolas"/>
              </a:rPr>
              <a:t>캐시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같은 설문이면 다시 계산하지 않는다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설문 내용을 SHA-1로 줄여 캐시 키로 씁니다. 루틴 후보는 1시간 보관하고, 기록이 바뀌면 그 사용자 것만 지웁니다.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62088" y="3520440"/>
            <a:ext cx="4062679" cy="1417320"/>
          </a:xfrm>
          <a:prstGeom prst="roundRect">
            <a:avLst>
              <a:gd name="adj" fmla="val 4000"/>
            </a:avLst>
          </a:prstGeom>
          <a:solidFill>
            <a:srgbClr val="151B24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562088" y="3520440"/>
            <a:ext cx="41148" cy="1417320"/>
          </a:xfrm>
          <a:prstGeom prst="rect">
            <a:avLst/>
          </a:prstGeom>
          <a:solidFill>
            <a:srgbClr val="F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63256" y="3648456"/>
            <a:ext cx="3715207" cy="1197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F0996B"/>
                </a:solidFill>
                <a:latin typeface="Consolas"/>
                <a:ea typeface="Consolas"/>
                <a:cs typeface="Consolas"/>
              </a:rPr>
              <a:t>폴백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AI가 실패하면 규칙이 답한다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모델 호출이 실패하면 규칙 기반으로 되돌리되, 어디서 되돌렸는지 사유를 응답에 남깁니다.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62088" y="5074920"/>
            <a:ext cx="4062679" cy="1371600"/>
          </a:xfrm>
          <a:prstGeom prst="roundRect">
            <a:avLst>
              <a:gd name="adj" fmla="val 4000"/>
            </a:avLst>
          </a:prstGeom>
          <a:solidFill>
            <a:srgbClr val="151B24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562088" y="5074920"/>
            <a:ext cx="41148" cy="1371600"/>
          </a:xfrm>
          <a:prstGeom prst="rect">
            <a:avLst/>
          </a:prstGeom>
          <a:solidFill>
            <a:srgbClr val="5DC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63256" y="5202936"/>
            <a:ext cx="3715207" cy="1152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5DCAA5"/>
                </a:solidFill>
                <a:latin typeface="Consolas"/>
                <a:ea typeface="Consolas"/>
                <a:cs typeface="Consolas"/>
              </a:rPr>
              <a:t>계층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도메인은 위아래를 모른다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도메인이 순수 함수라 웹을 띄우지 않고 시험할 수 있고, 백엔드 언어를 바꿔도 그대로 옮겨집니다.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3808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dirty="0">
                <a:solidFill>
                  <a:srgbClr val="5DCAA5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lang="en-US" sz="1100" b="1" dirty="0">
                <a:solidFill>
                  <a:srgbClr val="5DCAA5"/>
                </a:solidFill>
                <a:latin typeface="맑은 고딕"/>
                <a:ea typeface="맑은 고딕"/>
                <a:cs typeface="맑은 고딕"/>
              </a:rPr>
              <a:t>7</a:t>
            </a:r>
            <a:r>
              <a:rPr sz="1100" b="1" dirty="0">
                <a:solidFill>
                  <a:srgbClr val="5DCAA5"/>
                </a:solidFill>
                <a:latin typeface="맑은 고딕"/>
                <a:ea typeface="맑은 고딕"/>
                <a:cs typeface="맑은 고딕"/>
              </a:rPr>
              <a:t>   </a:t>
            </a:r>
            <a:r>
              <a:rPr sz="1100" b="1" dirty="0" err="1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코드</a:t>
            </a:r>
            <a:r>
              <a:rPr sz="1100" b="1" dirty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 ① </a:t>
            </a:r>
            <a:r>
              <a:rPr sz="1100" b="1" dirty="0" err="1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안전</a:t>
            </a:r>
            <a:endParaRPr sz="1100" b="1" dirty="0">
              <a:solidFill>
                <a:srgbClr val="A7B3C4"/>
              </a:solidFill>
              <a:latin typeface="맑은 고딕"/>
              <a:ea typeface="맑은 고딕"/>
              <a:cs typeface="맑은 고딕"/>
            </a:endParaRPr>
          </a:p>
          <a:p>
            <a:endParaRPr sz="1100" b="1" dirty="0">
              <a:solidFill>
                <a:srgbClr val="A7B3C4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57839" cy="9525"/>
          </a:xfrm>
          <a:prstGeom prst="rect">
            <a:avLst/>
          </a:prstGeom>
          <a:solidFill>
            <a:srgbClr val="2C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5783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무릎이 아픈 사람에게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무엇을 대신 시킬 것인가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65960"/>
            <a:ext cx="6720840" cy="4343400"/>
          </a:xfrm>
          <a:prstGeom prst="roundRect">
            <a:avLst>
              <a:gd name="adj" fmla="val 4000"/>
            </a:avLst>
          </a:prstGeom>
          <a:solidFill>
            <a:srgbClr val="151B24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965960"/>
            <a:ext cx="6720840" cy="274320"/>
          </a:xfrm>
          <a:prstGeom prst="rect">
            <a:avLst/>
          </a:prstGeom>
          <a:solidFill>
            <a:srgbClr val="1D2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011680"/>
            <a:ext cx="6446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>
                <a:solidFill>
                  <a:srgbClr val="6D7B8D"/>
                </a:solidFill>
                <a:latin typeface="Consolas"/>
                <a:ea typeface="Consolas"/>
                <a:cs typeface="Consolas"/>
              </a:rPr>
              <a:t>src/domain/exercises.js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350008"/>
            <a:ext cx="6428232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#blocked(item, injuries, restrictions, equipment) {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 if (injuries.some((area) =&gt; item.risk.includes(area)))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   return true;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 if (restrictions.no_impact &amp;&amp; item.impact) return true;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 if (equipment &amp;&amp; !equipment.has(item.equipment)) return true;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 return false;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6D7B8D"/>
                </a:solidFill>
                <a:latin typeface="Consolas"/>
                <a:ea typeface="Consolas"/>
                <a:cs typeface="Consolas"/>
              </a:rPr>
              <a:t>// 막힌 고부하 동작이 있으면 대체 체인을 먼저 따라간다.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let altSlug = origin.alt;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while (altSlug &amp;&amp; !seen.has(altSlug)) {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 const alt = this.bySlug.get(altSlug);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 if (!this.#blocked(alt, injuries, restrictions, equipment))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   return alt;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 altSlug = alt.alt;   </a:t>
            </a:r>
            <a:r>
              <a:rPr sz="1050" b="0">
                <a:solidFill>
                  <a:srgbClr val="6D7B8D"/>
                </a:solidFill>
                <a:latin typeface="Consolas"/>
                <a:ea typeface="Consolas"/>
                <a:cs typeface="Consolas"/>
              </a:rPr>
              <a:t>// 대체의 대체까지 따라간다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62088" y="1965960"/>
            <a:ext cx="4062679" cy="1554480"/>
          </a:xfrm>
          <a:prstGeom prst="roundRect">
            <a:avLst>
              <a:gd name="adj" fmla="val 4000"/>
            </a:avLst>
          </a:prstGeom>
          <a:solidFill>
            <a:srgbClr val="151B24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562088" y="1965960"/>
            <a:ext cx="41148" cy="1554480"/>
          </a:xfrm>
          <a:prstGeom prst="rect">
            <a:avLst/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63256" y="2093976"/>
            <a:ext cx="3715207" cy="1335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E8615A"/>
                </a:solidFill>
                <a:latin typeface="Consolas"/>
                <a:ea typeface="Consolas"/>
                <a:cs typeface="Consolas"/>
              </a:rPr>
              <a:t>막기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막는 조건은 세 가지뿐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아픈 부위, 충격이 큰 동작, 없는 기구. 짧게 유지해야 나중에 조건을 더할 때 안전합니다.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62088" y="3657600"/>
            <a:ext cx="4062679" cy="1554480"/>
          </a:xfrm>
          <a:prstGeom prst="roundRect">
            <a:avLst>
              <a:gd name="adj" fmla="val 4000"/>
            </a:avLst>
          </a:prstGeom>
          <a:solidFill>
            <a:srgbClr val="151B24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562088" y="3657600"/>
            <a:ext cx="41148" cy="1554480"/>
          </a:xfrm>
          <a:prstGeom prst="rect">
            <a:avLst/>
          </a:prstGeom>
          <a:solidFill>
            <a:srgbClr val="5DC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63256" y="3785616"/>
            <a:ext cx="3715207" cy="1335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5DCAA5"/>
                </a:solidFill>
                <a:latin typeface="Consolas"/>
                <a:ea typeface="Consolas"/>
                <a:cs typeface="Consolas"/>
              </a:rPr>
              <a:t>잇기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막고 끝내지 않고 대체를 찾는다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운동마다 alt로 다음 후보를 걸어 뒀습니다. 그것도 막히면 그 다음 후보로 — 사슬을 따라갑니다.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62088" y="5349240"/>
            <a:ext cx="4062679" cy="1188720"/>
          </a:xfrm>
          <a:prstGeom prst="roundRect">
            <a:avLst>
              <a:gd name="adj" fmla="val 4000"/>
            </a:avLst>
          </a:prstGeom>
          <a:solidFill>
            <a:srgbClr val="1D2531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63256" y="5477256"/>
            <a:ext cx="3715207" cy="969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1">
                <a:solidFill>
                  <a:srgbClr val="6D7B8D"/>
                </a:solidFill>
                <a:latin typeface="맑은 고딕"/>
                <a:ea typeface="맑은 고딕"/>
                <a:cs typeface="맑은 고딕"/>
              </a:rPr>
              <a:t>무릎 통증을 선택하면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바벨 백스쿼트 </a:t>
            </a:r>
            <a:r>
              <a:rPr sz="1150" b="1">
                <a:solidFill>
                  <a:srgbClr val="E8615A"/>
                </a:solidFill>
                <a:latin typeface="Consolas"/>
                <a:ea typeface="Consolas"/>
                <a:cs typeface="Consolas"/>
              </a:rPr>
              <a:t>막힘</a:t>
            </a:r>
            <a:r>
              <a:rPr sz="11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→ 고블릿 스쿼트 </a:t>
            </a:r>
            <a:r>
              <a:rPr sz="1150" b="1">
                <a:solidFill>
                  <a:srgbClr val="E8615A"/>
                </a:solidFill>
                <a:latin typeface="Consolas"/>
                <a:ea typeface="Consolas"/>
                <a:cs typeface="Consolas"/>
              </a:rPr>
              <a:t>막힘</a:t>
            </a:r>
            <a:r>
              <a:rPr sz="1150" b="0">
                <a:solidFill>
                  <a:srgbClr val="6D7B8D"/>
                </a:solidFill>
                <a:latin typeface="Consolas"/>
                <a:ea typeface="Consolas"/>
                <a:cs typeface="Consolas"/>
              </a:rPr>
              <a:t> → </a:t>
            </a:r>
            <a:r>
              <a:rPr sz="1150" b="1">
                <a:solidFill>
                  <a:srgbClr val="5DCAA5"/>
                </a:solidFill>
                <a:latin typeface="Consolas"/>
                <a:ea typeface="Consolas"/>
                <a:cs typeface="Consolas"/>
              </a:rPr>
              <a:t>박스 스쿼트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3808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1100" b="1" dirty="0">
                <a:solidFill>
                  <a:srgbClr val="5DCAA5"/>
                </a:solidFill>
                <a:latin typeface="맑은 고딕"/>
                <a:ea typeface="맑은 고딕"/>
                <a:cs typeface="맑은 고딕"/>
              </a:rPr>
              <a:t>08</a:t>
            </a:r>
            <a:r>
              <a:rPr sz="1100" b="1" dirty="0">
                <a:solidFill>
                  <a:srgbClr val="5DCAA5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sz="1100" b="1" dirty="0" err="1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코드</a:t>
            </a:r>
            <a:r>
              <a:rPr sz="1100" b="1" dirty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 ② </a:t>
            </a:r>
            <a:r>
              <a:rPr sz="1100" b="1" dirty="0" err="1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영양</a:t>
            </a:r>
            <a:endParaRPr sz="1100" b="1" dirty="0">
              <a:solidFill>
                <a:srgbClr val="A7B3C4"/>
              </a:solidFill>
              <a:latin typeface="맑은 고딕"/>
              <a:ea typeface="맑은 고딕"/>
              <a:cs typeface="맑은 고딕"/>
            </a:endParaRPr>
          </a:p>
          <a:p>
            <a:endParaRPr sz="1100" b="1" dirty="0">
              <a:solidFill>
                <a:srgbClr val="A7B3C4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57839" cy="9525"/>
          </a:xfrm>
          <a:prstGeom prst="rect">
            <a:avLst/>
          </a:prstGeom>
          <a:solidFill>
            <a:srgbClr val="2C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5783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같은 사람이라도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다리 하는 날과 쉬는 날은 다르다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65960"/>
            <a:ext cx="6720840" cy="4343400"/>
          </a:xfrm>
          <a:prstGeom prst="roundRect">
            <a:avLst>
              <a:gd name="adj" fmla="val 4000"/>
            </a:avLst>
          </a:prstGeom>
          <a:solidFill>
            <a:srgbClr val="151B24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965960"/>
            <a:ext cx="6720840" cy="274320"/>
          </a:xfrm>
          <a:prstGeom prst="rect">
            <a:avLst/>
          </a:prstGeom>
          <a:solidFill>
            <a:srgbClr val="1D2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011680"/>
            <a:ext cx="6446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>
                <a:solidFill>
                  <a:srgbClr val="6D7B8D"/>
                </a:solidFill>
                <a:latin typeface="Consolas"/>
                <a:ea typeface="Consolas"/>
                <a:cs typeface="Consolas"/>
              </a:rPr>
              <a:t>src/domain/nutrition.js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350008"/>
            <a:ext cx="6428232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function dailyBaseline(profile, restrictions) {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 const bmr = bmrMifflin(sex, age, heightCm, weightKg);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 let activity = ACTIVITY_BY_FREQUENCY[profile.frequency] ?? 1.45;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 activity += DURATION_BONUS[profile.duration] ?? 0;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 let calories = bmr * activity * goal.calorie_factor;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6D7B8D"/>
                </a:solidFill>
                <a:latin typeface="Consolas"/>
                <a:ea typeface="Consolas"/>
                <a:cs typeface="Consolas"/>
              </a:rPr>
              <a:t>  // 기초대사량 아래로는 내려가지 않게 막는다.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 calories = Math.max(clampCalories(calories, profile), bmr);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function macrosForIntensity(baseline, intensity) {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6D7B8D"/>
                </a:solidFill>
                <a:latin typeface="Consolas"/>
                <a:ea typeface="Consolas"/>
                <a:cs typeface="Consolas"/>
              </a:rPr>
              <a:t>  // 그날 강도에 따라 탄수화물만 오르내린다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 const carbs   = baseline.carbs * factor.carbs;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 const protein = baseline.protein;   </a:t>
            </a:r>
            <a:r>
              <a:rPr sz="1050" b="0">
                <a:solidFill>
                  <a:srgbClr val="6D7B8D"/>
                </a:solidFill>
                <a:latin typeface="Consolas"/>
                <a:ea typeface="Consolas"/>
                <a:cs typeface="Consolas"/>
              </a:rPr>
              <a:t>// 단백질은 고정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62088" y="1965960"/>
            <a:ext cx="4062679" cy="1554480"/>
          </a:xfrm>
          <a:prstGeom prst="roundRect">
            <a:avLst>
              <a:gd name="adj" fmla="val 4000"/>
            </a:avLst>
          </a:prstGeom>
          <a:solidFill>
            <a:srgbClr val="151B24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562088" y="1965960"/>
            <a:ext cx="41148" cy="1554480"/>
          </a:xfrm>
          <a:prstGeom prst="rect">
            <a:avLst/>
          </a:prstGeom>
          <a:solidFill>
            <a:srgbClr val="F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63256" y="2093976"/>
            <a:ext cx="3715207" cy="1335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F0996B"/>
                </a:solidFill>
                <a:latin typeface="Consolas"/>
                <a:ea typeface="Consolas"/>
                <a:cs typeface="Consolas"/>
              </a:rPr>
              <a:t>안전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계산 결과에 바닥을 깔았다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체중을 빨리 빼려는 목표에서는 열량이 위험할 만큼 내려갈 수 있습니다. 기초대사량 아래로는 절대 내려가지 않게 막습니다.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62088" y="3657600"/>
            <a:ext cx="4062679" cy="1554480"/>
          </a:xfrm>
          <a:prstGeom prst="roundRect">
            <a:avLst>
              <a:gd name="adj" fmla="val 4000"/>
            </a:avLst>
          </a:prstGeom>
          <a:solidFill>
            <a:srgbClr val="151B24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562088" y="3657600"/>
            <a:ext cx="41148" cy="1554480"/>
          </a:xfrm>
          <a:prstGeom prst="rect">
            <a:avLst/>
          </a:prstGeom>
          <a:solidFill>
            <a:srgbClr val="5DC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63256" y="3785616"/>
            <a:ext cx="3715207" cy="1335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5DCAA5"/>
                </a:solidFill>
                <a:latin typeface="Consolas"/>
                <a:ea typeface="Consolas"/>
                <a:cs typeface="Consolas"/>
              </a:rPr>
              <a:t>근거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탄수화물만 움직이는 이유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단백질은 근육 유지에 필요한 양이 정해져 있어 고정하고, 훈련 연료인 탄수화물을 강도에 따라 조절합니다.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62088" y="5349240"/>
            <a:ext cx="4062679" cy="1188720"/>
          </a:xfrm>
          <a:prstGeom prst="roundRect">
            <a:avLst>
              <a:gd name="adj" fmla="val 4000"/>
            </a:avLst>
          </a:prstGeom>
          <a:solidFill>
            <a:srgbClr val="1D2531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63256" y="5477256"/>
            <a:ext cx="3715207" cy="969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1">
                <a:solidFill>
                  <a:srgbClr val="6D7B8D"/>
                </a:solidFill>
                <a:latin typeface="맑은 고딕"/>
                <a:ea typeface="맑은 고딕"/>
                <a:cs typeface="맑은 고딕"/>
              </a:rPr>
              <a:t>70kg 남성 · 주 4회 · 근육량 증가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1,758 → 2,680 → </a:t>
            </a:r>
            <a:r>
              <a:rPr sz="1150" b="1">
                <a:solidFill>
                  <a:srgbClr val="5DCAA5"/>
                </a:solidFill>
                <a:latin typeface="Consolas"/>
                <a:ea typeface="Consolas"/>
                <a:cs typeface="Consolas"/>
              </a:rPr>
              <a:t>2,948 kcal</a:t>
            </a:r>
            <a:r>
              <a:rPr sz="11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· 단백질 144g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3808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sz="1100" b="1" dirty="0">
                <a:solidFill>
                  <a:srgbClr val="5DCAA5"/>
                </a:solidFill>
                <a:latin typeface="맑은 고딕"/>
                <a:ea typeface="맑은 고딕"/>
                <a:cs typeface="맑은 고딕"/>
              </a:rPr>
              <a:t>09</a:t>
            </a:r>
            <a:r>
              <a:rPr sz="1100" b="1" dirty="0">
                <a:solidFill>
                  <a:srgbClr val="5DCAA5"/>
                </a:solidFill>
                <a:latin typeface="맑은 고딕"/>
                <a:ea typeface="맑은 고딕"/>
                <a:cs typeface="맑은 고딕"/>
              </a:rPr>
              <a:t>   </a:t>
            </a:r>
            <a:r>
              <a:rPr sz="1100" b="1" dirty="0" err="1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코드</a:t>
            </a:r>
            <a:r>
              <a:rPr sz="1100" b="1" dirty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 ③ </a:t>
            </a:r>
            <a:r>
              <a:rPr sz="1100" b="1" dirty="0" err="1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한국어</a:t>
            </a:r>
            <a:r>
              <a:rPr sz="1100" b="1" dirty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 err="1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처리</a:t>
            </a:r>
            <a:endParaRPr sz="1100" b="1" dirty="0">
              <a:solidFill>
                <a:srgbClr val="A7B3C4"/>
              </a:solidFill>
              <a:latin typeface="맑은 고딕"/>
              <a:ea typeface="맑은 고딕"/>
              <a:cs typeface="맑은 고딕"/>
            </a:endParaRPr>
          </a:p>
          <a:p>
            <a:endParaRPr sz="1100" b="1" dirty="0">
              <a:solidFill>
                <a:srgbClr val="A7B3C4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57839" cy="9525"/>
          </a:xfrm>
          <a:prstGeom prst="rect">
            <a:avLst/>
          </a:prstGeom>
          <a:solidFill>
            <a:srgbClr val="2C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5783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"계란 3개와 오트밀 60g"에서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숫자를 누구에게 줄 것인가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65960"/>
            <a:ext cx="6720840" cy="4343400"/>
          </a:xfrm>
          <a:prstGeom prst="roundRect">
            <a:avLst>
              <a:gd name="adj" fmla="val 4000"/>
            </a:avLst>
          </a:prstGeom>
          <a:solidFill>
            <a:srgbClr val="151B24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965960"/>
            <a:ext cx="6720840" cy="274320"/>
          </a:xfrm>
          <a:prstGeom prst="rect">
            <a:avLst/>
          </a:prstGeom>
          <a:solidFill>
            <a:srgbClr val="1D2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011680"/>
            <a:ext cx="6446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>
                <a:solidFill>
                  <a:srgbClr val="6D7B8D"/>
                </a:solidFill>
                <a:latin typeface="Consolas"/>
                <a:ea typeface="Consolas"/>
                <a:cs typeface="Consolas"/>
              </a:rPr>
              <a:t>src/domain/foods.js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350008"/>
            <a:ext cx="6428232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6D7B8D"/>
                </a:solidFill>
                <a:latin typeface="Consolas"/>
                <a:ea typeface="Consolas"/>
                <a:cs typeface="Consolas"/>
              </a:rPr>
              <a:t>// 1) 겹치지 않게 음식 이름의 '위치'를 먼저 찾는다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found.push({ at, end: at + token.length, token, food });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found.sort((a, b) =&gt; a.at - b.at);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6D7B8D"/>
                </a:solidFill>
                <a:latin typeface="Consolas"/>
                <a:ea typeface="Consolas"/>
                <a:cs typeface="Consolas"/>
              </a:rPr>
              <a:t>// 2) 이름마다 자기 구간 안에서만 수량을 찾는다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found.forEach((entry, index) =&gt; {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 const afterEnd = index + 1 &lt; found.length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   ? found[index + 1].at        </a:t>
            </a:r>
            <a:r>
              <a:rPr sz="1050" b="0">
                <a:solidFill>
                  <a:srgbClr val="6D7B8D"/>
                </a:solidFill>
                <a:latin typeface="Consolas"/>
                <a:ea typeface="Consolas"/>
                <a:cs typeface="Consolas"/>
              </a:rPr>
              <a:t>// 다음 음식 전까지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   : text.length;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 let match = QUANTITY_RE.exec(text.slice(entry.end, afterEnd));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 if (!match)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   match = QUANTITY_RE.exec(text.slice(beforeStart, entry.at));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});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62088" y="1965960"/>
            <a:ext cx="4062679" cy="1554480"/>
          </a:xfrm>
          <a:prstGeom prst="roundRect">
            <a:avLst>
              <a:gd name="adj" fmla="val 4000"/>
            </a:avLst>
          </a:prstGeom>
          <a:solidFill>
            <a:srgbClr val="151B24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562088" y="1965960"/>
            <a:ext cx="41148" cy="1554480"/>
          </a:xfrm>
          <a:prstGeom prst="rect">
            <a:avLst/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63256" y="2093976"/>
            <a:ext cx="3715207" cy="1335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E8615A"/>
                </a:solidFill>
                <a:latin typeface="Consolas"/>
                <a:ea typeface="Consolas"/>
                <a:cs typeface="Consolas"/>
              </a:rPr>
              <a:t>버그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처음엔 문장 전체에서 숫자를 찾았다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그러다 보니 오트밀이 "3개"를 가져갔습니다. 먼저 나온 숫자가 뒤 음식에 붙어버린 겁니다.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62088" y="3657600"/>
            <a:ext cx="4062679" cy="1554480"/>
          </a:xfrm>
          <a:prstGeom prst="roundRect">
            <a:avLst>
              <a:gd name="adj" fmla="val 4000"/>
            </a:avLst>
          </a:prstGeom>
          <a:solidFill>
            <a:srgbClr val="151B24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562088" y="3657600"/>
            <a:ext cx="41148" cy="1554480"/>
          </a:xfrm>
          <a:prstGeom prst="rect">
            <a:avLst/>
          </a:prstGeom>
          <a:solidFill>
            <a:srgbClr val="5DC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63256" y="3785616"/>
            <a:ext cx="3715207" cy="1335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5DCAA5"/>
                </a:solidFill>
                <a:latin typeface="Consolas"/>
                <a:ea typeface="Consolas"/>
                <a:cs typeface="Consolas"/>
              </a:rPr>
              <a:t>수정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음식마다 자기 구간을 준다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이름 위치를 먼저 정하고, 다음 음식이 나오기 전까지만 숫자를 찾습니다. 뒤에 없으면 앞을 봅니다("3개의 계란").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62088" y="5349240"/>
            <a:ext cx="4062679" cy="1188720"/>
          </a:xfrm>
          <a:prstGeom prst="roundRect">
            <a:avLst>
              <a:gd name="adj" fmla="val 4000"/>
            </a:avLst>
          </a:prstGeom>
          <a:solidFill>
            <a:srgbClr val="1D2531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63256" y="5477256"/>
            <a:ext cx="3715207" cy="969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1">
                <a:solidFill>
                  <a:srgbClr val="6D7B8D"/>
                </a:solidFill>
                <a:latin typeface="맑은 고딕"/>
                <a:ea typeface="맑은 고딕"/>
                <a:cs typeface="맑은 고딕"/>
              </a:rPr>
              <a:t>계란 3개와 오트밀 60g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오트밀이 </a:t>
            </a:r>
            <a:r>
              <a:rPr sz="1150" b="1">
                <a:solidFill>
                  <a:srgbClr val="E8615A"/>
                </a:solidFill>
                <a:latin typeface="Consolas"/>
                <a:ea typeface="Consolas"/>
                <a:cs typeface="Consolas"/>
              </a:rPr>
              <a:t>3개</a:t>
            </a:r>
            <a:r>
              <a:rPr sz="1150" b="0">
                <a:solidFill>
                  <a:srgbClr val="6D7B8D"/>
                </a:solidFill>
                <a:latin typeface="Consolas"/>
                <a:ea typeface="Consolas"/>
                <a:cs typeface="Consolas"/>
              </a:rPr>
              <a:t>  →  </a:t>
            </a:r>
            <a:r>
              <a:rPr sz="1150" b="1">
                <a:solidFill>
                  <a:srgbClr val="5DCAA5"/>
                </a:solidFill>
                <a:latin typeface="Consolas"/>
                <a:ea typeface="Consolas"/>
                <a:cs typeface="Consolas"/>
              </a:rPr>
              <a:t>60g</a:t>
            </a:r>
            <a:r>
              <a:rPr sz="11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 으로 바로잡힘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3808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dirty="0">
                <a:solidFill>
                  <a:srgbClr val="5DCAA5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lang="en-US" sz="1100" b="1" dirty="0">
                <a:solidFill>
                  <a:srgbClr val="5DCAA5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 dirty="0">
                <a:solidFill>
                  <a:srgbClr val="5DCAA5"/>
                </a:solidFill>
                <a:latin typeface="맑은 고딕"/>
                <a:ea typeface="맑은 고딕"/>
                <a:cs typeface="맑은 고딕"/>
              </a:rPr>
              <a:t>   </a:t>
            </a:r>
            <a:r>
              <a:rPr sz="1100" b="1" dirty="0" err="1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코드</a:t>
            </a:r>
            <a:r>
              <a:rPr sz="1100" b="1" dirty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 ④ AI </a:t>
            </a:r>
            <a:r>
              <a:rPr sz="1100" b="1" dirty="0" err="1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연동</a:t>
            </a:r>
            <a:endParaRPr sz="1100" b="1" dirty="0">
              <a:solidFill>
                <a:srgbClr val="A7B3C4"/>
              </a:solidFill>
              <a:latin typeface="맑은 고딕"/>
              <a:ea typeface="맑은 고딕"/>
              <a:cs typeface="맑은 고딕"/>
            </a:endParaRPr>
          </a:p>
          <a:p>
            <a:endParaRPr sz="1100" b="1" dirty="0">
              <a:solidFill>
                <a:srgbClr val="A7B3C4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57839" cy="9525"/>
          </a:xfrm>
          <a:prstGeom prst="rect">
            <a:avLst/>
          </a:prstGeom>
          <a:solidFill>
            <a:srgbClr val="2C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5783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AI를 믿되,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아는 것은 우리 데이터로 답한다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65960"/>
            <a:ext cx="6720840" cy="4343400"/>
          </a:xfrm>
          <a:prstGeom prst="roundRect">
            <a:avLst>
              <a:gd name="adj" fmla="val 4000"/>
            </a:avLst>
          </a:prstGeom>
          <a:solidFill>
            <a:srgbClr val="151B24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965960"/>
            <a:ext cx="6720840" cy="274320"/>
          </a:xfrm>
          <a:prstGeom prst="rect">
            <a:avLst/>
          </a:prstGeom>
          <a:solidFill>
            <a:srgbClr val="1D2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011680"/>
            <a:ext cx="6446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>
                <a:solidFill>
                  <a:srgbClr val="6D7B8D"/>
                </a:solidFill>
                <a:latin typeface="Consolas"/>
                <a:ea typeface="Consolas"/>
                <a:cs typeface="Consolas"/>
              </a:rPr>
              <a:t>src/domain/foods.js — estimateFromPhoto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350008"/>
            <a:ext cx="6428232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for (const food of modelFoods) {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 const phrase = `${food.name} ${food.amount}${food.unit}`;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 const local = estimate(phrase);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6D7B8D"/>
                </a:solidFill>
                <a:latin typeface="Consolas"/>
                <a:ea typeface="Consolas"/>
                <a:cs typeface="Consolas"/>
              </a:rPr>
              <a:t>  // 음식 DB가 아는 음식이면 DB 값을 쓴다. 텍스트로 적었을 때와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6D7B8D"/>
                </a:solidFill>
                <a:latin typeface="Consolas"/>
                <a:ea typeface="Consolas"/>
                <a:cs typeface="Consolas"/>
              </a:rPr>
              <a:t>  // 같은 숫자가 나와야 하기 때문이다.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 if (local.matched &gt; 0) {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   items.push(...local.items.map((i) =&gt; ({ ...i, source: "db" })));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   continue;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 }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6D7B8D"/>
                </a:solidFill>
                <a:latin typeface="Consolas"/>
                <a:ea typeface="Consolas"/>
                <a:cs typeface="Consolas"/>
              </a:rPr>
              <a:t>  // DB에 없는 음식만 모델이 준 값을 받는다.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 usedModel += 1;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 items.push({ ...food, source: "ai" });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62088" y="1965960"/>
            <a:ext cx="4062679" cy="1554480"/>
          </a:xfrm>
          <a:prstGeom prst="roundRect">
            <a:avLst>
              <a:gd name="adj" fmla="val 4000"/>
            </a:avLst>
          </a:prstGeom>
          <a:solidFill>
            <a:srgbClr val="151B24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562088" y="1965960"/>
            <a:ext cx="41148" cy="1554480"/>
          </a:xfrm>
          <a:prstGeom prst="rect">
            <a:avLst/>
          </a:prstGeom>
          <a:solidFill>
            <a:srgbClr val="5DC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63256" y="2093976"/>
            <a:ext cx="3715207" cy="1335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5DCAA5"/>
                </a:solidFill>
                <a:latin typeface="Consolas"/>
                <a:ea typeface="Consolas"/>
                <a:cs typeface="Consolas"/>
              </a:rPr>
              <a:t>역할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AI에게는 '읽기'만 시킨다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사진에서 음식 이름과 양을 읽는 일은 AI가 잘합니다. 열량 계산은 우리 영양표가 더 정확하고, 매번 같은 값이 나옵니다.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62088" y="3657600"/>
            <a:ext cx="4062679" cy="1554480"/>
          </a:xfrm>
          <a:prstGeom prst="roundRect">
            <a:avLst>
              <a:gd name="adj" fmla="val 4000"/>
            </a:avLst>
          </a:prstGeom>
          <a:solidFill>
            <a:srgbClr val="151B24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562088" y="3657600"/>
            <a:ext cx="41148" cy="1554480"/>
          </a:xfrm>
          <a:prstGeom prst="rect">
            <a:avLst/>
          </a:prstGeom>
          <a:solidFill>
            <a:srgbClr val="E8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63256" y="3785616"/>
            <a:ext cx="3715207" cy="1335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E8615A"/>
                </a:solidFill>
                <a:latin typeface="Consolas"/>
                <a:ea typeface="Consolas"/>
                <a:cs typeface="Consolas"/>
              </a:rPr>
              <a:t>함정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모르는 음식이 0kcal로 빠졌다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처음엔 AI가 이름만 주고 계산은 전부 DB가 했습니다. 그래서 마라탕처럼 표에 없는 음식은 합계에서 통째로 사라졌습니다.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62088" y="5349240"/>
            <a:ext cx="4062679" cy="1188720"/>
          </a:xfrm>
          <a:prstGeom prst="roundRect">
            <a:avLst>
              <a:gd name="adj" fmla="val 4000"/>
            </a:avLst>
          </a:prstGeom>
          <a:solidFill>
            <a:srgbClr val="1D2531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63256" y="5477256"/>
            <a:ext cx="3715207" cy="969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1">
                <a:solidFill>
                  <a:srgbClr val="6D7B8D"/>
                </a:solidFill>
                <a:latin typeface="맑은 고딕"/>
                <a:ea typeface="맑은 고딕"/>
                <a:cs typeface="맑은 고딕"/>
              </a:rPr>
              <a:t>현미밥 · 치킨 · 마라탕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315 </a:t>
            </a:r>
            <a:r>
              <a:rPr sz="1150" b="1">
                <a:solidFill>
                  <a:srgbClr val="5DCAA5"/>
                </a:solidFill>
                <a:latin typeface="Consolas"/>
                <a:ea typeface="Consolas"/>
                <a:cs typeface="Consolas"/>
              </a:rPr>
              <a:t>db</a:t>
            </a:r>
            <a:r>
              <a:rPr sz="11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· 450 </a:t>
            </a:r>
            <a:r>
              <a:rPr sz="1150" b="1">
                <a:solidFill>
                  <a:srgbClr val="5DCAA5"/>
                </a:solidFill>
                <a:latin typeface="Consolas"/>
                <a:ea typeface="Consolas"/>
                <a:cs typeface="Consolas"/>
              </a:rPr>
              <a:t>db</a:t>
            </a:r>
            <a:r>
              <a:rPr sz="11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· 610 </a:t>
            </a:r>
            <a:r>
              <a:rPr sz="1150" b="1">
                <a:solidFill>
                  <a:srgbClr val="E8615A"/>
                </a:solidFill>
                <a:latin typeface="Consolas"/>
                <a:ea typeface="Consolas"/>
                <a:cs typeface="Consolas"/>
              </a:rPr>
              <a:t>ai</a:t>
            </a:r>
            <a:r>
              <a:rPr sz="11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 →  합계 1,375 kcal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3808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dirty="0">
                <a:solidFill>
                  <a:srgbClr val="5DCAA5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lang="en-US" sz="1100" b="1" dirty="0">
                <a:solidFill>
                  <a:srgbClr val="5DCAA5"/>
                </a:solidFill>
                <a:latin typeface="맑은 고딕"/>
                <a:ea typeface="맑은 고딕"/>
                <a:cs typeface="맑은 고딕"/>
              </a:rPr>
              <a:t>1 </a:t>
            </a:r>
            <a:r>
              <a:rPr sz="1100" b="1" dirty="0">
                <a:solidFill>
                  <a:srgbClr val="5DCAA5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sz="1100" b="1" dirty="0" err="1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코드</a:t>
            </a:r>
            <a:r>
              <a:rPr sz="1100" b="1" dirty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 ⑤ </a:t>
            </a:r>
            <a:r>
              <a:rPr sz="1100" b="1" dirty="0" err="1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재배치</a:t>
            </a:r>
            <a:endParaRPr sz="1100" b="1" dirty="0">
              <a:solidFill>
                <a:srgbClr val="A7B3C4"/>
              </a:solidFill>
              <a:latin typeface="맑은 고딕"/>
              <a:ea typeface="맑은 고딕"/>
              <a:cs typeface="맑은 고딕"/>
            </a:endParaRPr>
          </a:p>
          <a:p>
            <a:endParaRPr sz="1100" b="1" dirty="0">
              <a:solidFill>
                <a:srgbClr val="A7B3C4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57839" cy="9525"/>
          </a:xfrm>
          <a:prstGeom prst="rect">
            <a:avLst/>
          </a:prstGeom>
          <a:solidFill>
            <a:srgbClr val="2C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5783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수요일을 빠뜨렸다.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남은 나흘을 어떻게 다시 짜는가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65960"/>
            <a:ext cx="6720840" cy="4343400"/>
          </a:xfrm>
          <a:prstGeom prst="roundRect">
            <a:avLst>
              <a:gd name="adj" fmla="val 4000"/>
            </a:avLst>
          </a:prstGeom>
          <a:solidFill>
            <a:srgbClr val="151B24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965960"/>
            <a:ext cx="6720840" cy="274320"/>
          </a:xfrm>
          <a:prstGeom prst="rect">
            <a:avLst/>
          </a:prstGeom>
          <a:solidFill>
            <a:srgbClr val="1D2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011680"/>
            <a:ext cx="6446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>
                <a:solidFill>
                  <a:srgbClr val="6D7B8D"/>
                </a:solidFill>
                <a:latin typeface="Consolas"/>
                <a:ea typeface="Consolas"/>
                <a:cs typeface="Consolas"/>
              </a:rPr>
              <a:t>src/domain/coaching.js — reschedule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350008"/>
            <a:ext cx="6428232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6D7B8D"/>
                </a:solidFill>
                <a:latin typeface="Consolas"/>
                <a:ea typeface="Consolas"/>
                <a:cs typeface="Consolas"/>
              </a:rPr>
              <a:t>// 목적지 우선순위: 휴식일 &gt; 가벼운 훈련일 &gt; 남은 아무 날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const restTargets  = later.filter((i) =&gt; plan[i].isRestDay);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const lightTargets = later.filter((i) =&gt;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 ["low", "moderate"].includes(plan[i].intensity));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const targets = restTargets.length  ? restTargets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             : lightTargets.length ? lightTargets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             : later;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6D7B8D"/>
                </a:solidFill>
                <a:latin typeface="Consolas"/>
                <a:ea typeface="Consolas"/>
                <a:cs typeface="Consolas"/>
              </a:rPr>
              <a:t>// 미수행일 자리는 회복일로 비운다.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plan[index]  = { ...plan[index], isRestDay: true,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                status: "미수행" };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plan[target] = { ...missedSession, day: targetDay,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                status: "재배치됨" };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62088" y="1965960"/>
            <a:ext cx="4062679" cy="1554480"/>
          </a:xfrm>
          <a:prstGeom prst="roundRect">
            <a:avLst>
              <a:gd name="adj" fmla="val 4000"/>
            </a:avLst>
          </a:prstGeom>
          <a:solidFill>
            <a:srgbClr val="151B24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562088" y="1965960"/>
            <a:ext cx="41148" cy="1554480"/>
          </a:xfrm>
          <a:prstGeom prst="rect">
            <a:avLst/>
          </a:prstGeom>
          <a:solidFill>
            <a:srgbClr val="5DC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63256" y="2093976"/>
            <a:ext cx="3715207" cy="1335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5DCAA5"/>
                </a:solidFill>
                <a:latin typeface="Consolas"/>
                <a:ea typeface="Consolas"/>
                <a:cs typeface="Consolas"/>
              </a:rPr>
              <a:t>규칙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쉬는 날을 먼저 쓴다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이미 힘든 날에 얹으면 그 날도 못 합니다. 비어 있는 날이 없을 때만 가벼운 날과 자리를 바꿉니다.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62088" y="3657600"/>
            <a:ext cx="4062679" cy="1554480"/>
          </a:xfrm>
          <a:prstGeom prst="roundRect">
            <a:avLst>
              <a:gd name="adj" fmla="val 4000"/>
            </a:avLst>
          </a:prstGeom>
          <a:solidFill>
            <a:srgbClr val="151B24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562088" y="3657600"/>
            <a:ext cx="41148" cy="1554480"/>
          </a:xfrm>
          <a:prstGeom prst="rect">
            <a:avLst/>
          </a:prstGeom>
          <a:solidFill>
            <a:srgbClr val="F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63256" y="3785616"/>
            <a:ext cx="3715207" cy="1335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F0996B"/>
                </a:solidFill>
                <a:latin typeface="Consolas"/>
                <a:ea typeface="Consolas"/>
                <a:cs typeface="Consolas"/>
              </a:rPr>
              <a:t>정직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자리가 없으면 없다고 말한다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남은 날이 없으면 억지로 밀어 넣지 않고 다음 주 첫 훈련일로 이월하고, 그 사실을 문장으로 알립니다.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62088" y="5349240"/>
            <a:ext cx="4062679" cy="1188720"/>
          </a:xfrm>
          <a:prstGeom prst="roundRect">
            <a:avLst>
              <a:gd name="adj" fmla="val 4000"/>
            </a:avLst>
          </a:prstGeom>
          <a:solidFill>
            <a:srgbClr val="1D2531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63256" y="5477256"/>
            <a:ext cx="3715207" cy="969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1">
                <a:solidFill>
                  <a:srgbClr val="6D7B8D"/>
                </a:solidFill>
                <a:latin typeface="맑은 고딕"/>
                <a:ea typeface="맑은 고딕"/>
                <a:cs typeface="맑은 고딕"/>
              </a:rPr>
              <a:t>연동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운동이 옮겨가면 그 날의 식단도 새 강도로 다시 계산된다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3808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dirty="0">
                <a:solidFill>
                  <a:srgbClr val="5DCAA5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lang="en-US" sz="1100" b="1" dirty="0">
                <a:solidFill>
                  <a:srgbClr val="5DCAA5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sz="1100" b="1" dirty="0">
                <a:solidFill>
                  <a:srgbClr val="5DCAA5"/>
                </a:solidFill>
                <a:latin typeface="맑은 고딕"/>
                <a:ea typeface="맑은 고딕"/>
                <a:cs typeface="맑은 고딕"/>
              </a:rPr>
              <a:t>   </a:t>
            </a:r>
            <a:r>
              <a:rPr sz="1100" b="1" dirty="0" err="1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프론트엔드</a:t>
            </a:r>
            <a:endParaRPr sz="1100" b="1" dirty="0">
              <a:solidFill>
                <a:srgbClr val="A7B3C4"/>
              </a:solidFill>
              <a:latin typeface="맑은 고딕"/>
              <a:ea typeface="맑은 고딕"/>
              <a:cs typeface="맑은 고딕"/>
            </a:endParaRPr>
          </a:p>
          <a:p>
            <a:endParaRPr sz="1100" b="1" dirty="0">
              <a:solidFill>
                <a:srgbClr val="A7B3C4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57839" cy="9525"/>
          </a:xfrm>
          <a:prstGeom prst="rect">
            <a:avLst/>
          </a:prstGeom>
          <a:solidFill>
            <a:srgbClr val="2C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5783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표를 없애고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달력 한 칸에 하루를 담았다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65960"/>
            <a:ext cx="6720840" cy="4343400"/>
          </a:xfrm>
          <a:prstGeom prst="roundRect">
            <a:avLst>
              <a:gd name="adj" fmla="val 4000"/>
            </a:avLst>
          </a:prstGeom>
          <a:solidFill>
            <a:srgbClr val="151B24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965960"/>
            <a:ext cx="6720840" cy="274320"/>
          </a:xfrm>
          <a:prstGeom prst="rect">
            <a:avLst/>
          </a:prstGeom>
          <a:solidFill>
            <a:srgbClr val="1D2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011680"/>
            <a:ext cx="6446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>
                <a:solidFill>
                  <a:srgbClr val="6D7B8D"/>
                </a:solidFill>
                <a:latin typeface="Consolas"/>
                <a:ea typeface="Consolas"/>
                <a:cs typeface="Consolas"/>
              </a:rPr>
              <a:t>src/components/LogCalendar.jsx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350008"/>
            <a:ext cx="6428232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&lt;span className="cell-focus"&gt;{shortFocus(entry.planned)}&lt;/span&gt;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{muscles.slice(0, 3).map((muscle) =&gt; (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 &lt;em className={`cell-muscle ${muscleClass(muscle)}`}&gt;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   {muscle}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 &lt;/em&gt;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))}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{(intake &gt; 0 || entry?.burnedKcal &gt; 0) &amp;&amp; (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 &lt;span className="cell-energy"&gt;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   &lt;em className="in"&gt;{intake}&lt;/em&gt;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   &lt;em className="out"&gt;−{entry.burnedKcal}&lt;/em&gt;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  &lt;/span&gt;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E9EDF3"/>
                </a:solidFill>
                <a:latin typeface="Consolas"/>
                <a:ea typeface="Consolas"/>
                <a:cs typeface="Consolas"/>
              </a:rPr>
              <a:t>)}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62088" y="1965960"/>
            <a:ext cx="4062679" cy="1920240"/>
          </a:xfrm>
          <a:prstGeom prst="roundRect">
            <a:avLst>
              <a:gd name="adj" fmla="val 4000"/>
            </a:avLst>
          </a:prstGeom>
          <a:solidFill>
            <a:srgbClr val="151B24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562088" y="1965960"/>
            <a:ext cx="41148" cy="1920240"/>
          </a:xfrm>
          <a:prstGeom prst="rect">
            <a:avLst/>
          </a:prstGeom>
          <a:solidFill>
            <a:srgbClr val="5DC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63256" y="2093976"/>
            <a:ext cx="3715207" cy="1700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5DCAA5"/>
                </a:solidFill>
                <a:latin typeface="Consolas"/>
                <a:ea typeface="Consolas"/>
                <a:cs typeface="Consolas"/>
              </a:rPr>
              <a:t>부위 색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색은 앱 전체에서 같은 뜻이다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muscleClass() 한 곳에서 부위→색을 정하고 계획·기록·리포트가 모두 그걸 씁니다. 미는 근육은 따뜻한 색, 당기는 근육은 차가운 색.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62088" y="4069080"/>
            <a:ext cx="4062679" cy="1920240"/>
          </a:xfrm>
          <a:prstGeom prst="roundRect">
            <a:avLst>
              <a:gd name="adj" fmla="val 4000"/>
            </a:avLst>
          </a:prstGeom>
          <a:solidFill>
            <a:srgbClr val="151B24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562088" y="4069080"/>
            <a:ext cx="41148" cy="1920240"/>
          </a:xfrm>
          <a:prstGeom prst="rect">
            <a:avLst/>
          </a:prstGeom>
          <a:solidFill>
            <a:srgbClr val="F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63256" y="4197096"/>
            <a:ext cx="3715207" cy="1700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F0996B"/>
                </a:solidFill>
                <a:latin typeface="Consolas"/>
                <a:ea typeface="Consolas"/>
                <a:cs typeface="Consolas"/>
              </a:rPr>
              <a:t>교훈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색만으로는 부족했다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처음엔 색 막대만 뒀는데 무슨 부위인지 알 수 없었습니다. 칸에 여유가 있으면 이름을 같이 적는 편이 낫습니다.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1057839" cy="3808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 dirty="0">
                <a:solidFill>
                  <a:srgbClr val="5DCAA5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lang="en-US" sz="1100" b="1" dirty="0">
                <a:solidFill>
                  <a:srgbClr val="5DCAA5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1100" b="1" dirty="0">
                <a:solidFill>
                  <a:srgbClr val="5DCAA5"/>
                </a:solidFill>
                <a:latin typeface="맑은 고딕"/>
                <a:ea typeface="맑은 고딕"/>
                <a:cs typeface="맑은 고딕"/>
              </a:rPr>
              <a:t>   </a:t>
            </a:r>
            <a:r>
              <a:rPr sz="1100" b="1" dirty="0" err="1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앞으로</a:t>
            </a:r>
            <a:r>
              <a:rPr sz="1100" b="1" dirty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100" b="1" dirty="0" err="1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개선할</a:t>
            </a:r>
            <a:r>
              <a:rPr sz="1100" b="1" dirty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 점</a:t>
            </a:r>
          </a:p>
          <a:p>
            <a:endParaRPr sz="1100" b="1" dirty="0">
              <a:solidFill>
                <a:srgbClr val="A7B3C4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11057839" cy="9525"/>
          </a:xfrm>
          <a:prstGeom prst="rect">
            <a:avLst/>
          </a:prstGeom>
          <a:solidFill>
            <a:srgbClr val="2C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105783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다음에 손볼 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65960"/>
            <a:ext cx="2572435" cy="3931920"/>
          </a:xfrm>
          <a:prstGeom prst="roundRect">
            <a:avLst>
              <a:gd name="adj" fmla="val 4000"/>
            </a:avLst>
          </a:prstGeom>
          <a:solidFill>
            <a:srgbClr val="151B24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68096" y="2167128"/>
            <a:ext cx="566928" cy="219456"/>
          </a:xfrm>
          <a:prstGeom prst="roundRect">
            <a:avLst/>
          </a:prstGeom>
          <a:solidFill>
            <a:srgbClr val="5DC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0181C"/>
                </a:solidFill>
                <a:latin typeface="Consolas"/>
                <a:ea typeface="Consolas"/>
                <a:cs typeface="Consolas"/>
              </a:rPr>
              <a:t>바로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5" y="3879233"/>
            <a:ext cx="591022" cy="2460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lang="ko-KR" altLang="en-US" sz="1400" b="1" dirty="0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디자인</a:t>
            </a:r>
            <a:endParaRPr lang="en-US" altLang="ko-KR" sz="1400" b="1" dirty="0">
              <a:solidFill>
                <a:srgbClr val="E9EDF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395395" y="1965960"/>
            <a:ext cx="2572435" cy="3931920"/>
          </a:xfrm>
          <a:prstGeom prst="roundRect">
            <a:avLst>
              <a:gd name="adj" fmla="val 4000"/>
            </a:avLst>
          </a:prstGeom>
          <a:solidFill>
            <a:srgbClr val="151B24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596563" y="2167128"/>
            <a:ext cx="566928" cy="219456"/>
          </a:xfrm>
          <a:prstGeom prst="roundRect">
            <a:avLst/>
          </a:prstGeom>
          <a:solidFill>
            <a:srgbClr val="F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0181C"/>
                </a:solidFill>
                <a:latin typeface="Consolas"/>
                <a:ea typeface="Consolas"/>
                <a:cs typeface="Consolas"/>
              </a:rPr>
              <a:t>다음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6563" y="2532888"/>
            <a:ext cx="2170099" cy="22510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8000"/>
              </a:lnSpc>
              <a:spcAft>
                <a:spcPts val="700"/>
              </a:spcAft>
            </a:pPr>
            <a:r>
              <a:rPr lang="ko-KR" altLang="en-US" sz="1400" b="1" dirty="0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사진 식단 분석을 정식 기능으로</a:t>
            </a:r>
          </a:p>
          <a:p>
            <a:pPr>
              <a:lnSpc>
                <a:spcPct val="142000"/>
              </a:lnSpc>
              <a:spcAft>
                <a:spcPts val="800"/>
              </a:spcAft>
            </a:pPr>
            <a:r>
              <a:rPr lang="ko-KR" altLang="en-US" sz="1050" dirty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사진을 올리면 </a:t>
            </a:r>
            <a:r>
              <a:rPr lang="en-US" altLang="ko-KR" sz="1050" dirty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AI</a:t>
            </a:r>
            <a:r>
              <a:rPr lang="ko-KR" altLang="en-US" sz="1050" dirty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가 음식과 양을 읽고 칼로리</a:t>
            </a:r>
            <a:r>
              <a:rPr lang="en-US" altLang="ko-KR" sz="1050" dirty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050" dirty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단백질</a:t>
            </a:r>
            <a:r>
              <a:rPr lang="en-US" altLang="ko-KR" sz="1050" dirty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050" dirty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탄수</a:t>
            </a:r>
            <a:r>
              <a:rPr lang="en-US" altLang="ko-KR" sz="1050" dirty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050" dirty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지방을 대략 계산합니다</a:t>
            </a:r>
            <a:r>
              <a:rPr lang="en-US" altLang="ko-KR" sz="1050" dirty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. </a:t>
            </a:r>
            <a:r>
              <a:rPr lang="ko-KR" altLang="en-US" sz="1050" dirty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지금은 붙여만 둔 상태라 </a:t>
            </a:r>
            <a:r>
              <a:rPr lang="en-US" altLang="ko-KR" sz="1050" dirty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API </a:t>
            </a:r>
            <a:r>
              <a:rPr lang="ko-KR" altLang="en-US" sz="1050" dirty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키가 있어야 켜집니다</a:t>
            </a:r>
            <a:r>
              <a:rPr lang="en-US" altLang="ko-KR" sz="1050" dirty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lnSpc>
                <a:spcPct val="140000"/>
              </a:lnSpc>
            </a:pPr>
            <a:r>
              <a:rPr lang="ko-KR" altLang="en-US" sz="950" dirty="0">
                <a:solidFill>
                  <a:srgbClr val="6D7B8D"/>
                </a:solidFill>
                <a:latin typeface="맑은 고딕"/>
                <a:ea typeface="맑은 고딕"/>
                <a:cs typeface="맑은 고딕"/>
              </a:rPr>
              <a:t>실제 사진으로 정확도를 재고</a:t>
            </a:r>
            <a:r>
              <a:rPr lang="en-US" altLang="ko-KR" sz="950" dirty="0">
                <a:solidFill>
                  <a:srgbClr val="6D7B8D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950" dirty="0">
                <a:solidFill>
                  <a:srgbClr val="6D7B8D"/>
                </a:solidFill>
                <a:latin typeface="맑은 고딕"/>
                <a:ea typeface="맑은 고딕"/>
                <a:cs typeface="맑은 고딕"/>
              </a:rPr>
              <a:t>식단 기록이 귀찮아서 안 하는 문제를 가장 크게 줄일 기능이라고 봅니다</a:t>
            </a:r>
            <a:r>
              <a:rPr lang="en-US" altLang="ko-KR" sz="950" dirty="0">
                <a:solidFill>
                  <a:srgbClr val="6D7B8D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3863" y="1965960"/>
            <a:ext cx="2572435" cy="3931920"/>
          </a:xfrm>
          <a:prstGeom prst="roundRect">
            <a:avLst>
              <a:gd name="adj" fmla="val 4000"/>
            </a:avLst>
          </a:prstGeom>
          <a:solidFill>
            <a:srgbClr val="151B24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25031" y="2167128"/>
            <a:ext cx="566928" cy="219456"/>
          </a:xfrm>
          <a:prstGeom prst="roundRect">
            <a:avLst/>
          </a:prstGeom>
          <a:solidFill>
            <a:srgbClr val="F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0181C"/>
                </a:solidFill>
                <a:latin typeface="Consolas"/>
                <a:ea typeface="Consolas"/>
                <a:cs typeface="Consolas"/>
              </a:rPr>
              <a:t>다음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5031" y="2532888"/>
            <a:ext cx="2170099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4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개인차를 반영한 강도 조절</a:t>
            </a:r>
          </a:p>
          <a:p>
            <a:pPr algn="l">
              <a:lnSpc>
                <a:spcPct val="142000"/>
              </a:lnSpc>
              <a:spcAft>
                <a:spcPts val="800"/>
              </a:spcAft>
            </a:pPr>
            <a:r>
              <a:rPr sz="1050" b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지금은 평균값 기반이라 같은 조건이면 누구에게나 같은 볼륨을 줍니다. 회복이 느린 사람에게는 과할 수 있습니다.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>
                <a:solidFill>
                  <a:srgbClr val="6D7B8D"/>
                </a:solidFill>
                <a:latin typeface="맑은 고딕"/>
                <a:ea typeface="맑은 고딕"/>
                <a:cs typeface="맑은 고딕"/>
              </a:rPr>
              <a:t>기록이 쌓이면 수행률과 체감 강도로 회복 속도를 추정해 다음 주 볼륨을 사람마다 다르게 잡을 수 있습니다.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331" y="1965960"/>
            <a:ext cx="2572435" cy="3931920"/>
          </a:xfrm>
          <a:prstGeom prst="roundRect">
            <a:avLst>
              <a:gd name="adj" fmla="val 4000"/>
            </a:avLst>
          </a:prstGeom>
          <a:solidFill>
            <a:srgbClr val="151B24"/>
          </a:solidFill>
          <a:ln w="9525">
            <a:solidFill>
              <a:srgbClr val="2C37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253499" y="2167128"/>
            <a:ext cx="566928" cy="219456"/>
          </a:xfrm>
          <a:prstGeom prst="roundRect">
            <a:avLst/>
          </a:prstGeom>
          <a:solidFill>
            <a:srgbClr val="E3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50" b="1">
                <a:solidFill>
                  <a:srgbClr val="10181C"/>
                </a:solidFill>
                <a:latin typeface="Consolas"/>
                <a:ea typeface="Consolas"/>
                <a:cs typeface="Consolas"/>
              </a:rPr>
              <a:t>이후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3499" y="2532888"/>
            <a:ext cx="2170099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4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실제 사용자로 검증하기</a:t>
            </a:r>
          </a:p>
          <a:p>
            <a:pPr algn="l">
              <a:lnSpc>
                <a:spcPct val="142000"/>
              </a:lnSpc>
              <a:spcAft>
                <a:spcPts val="800"/>
              </a:spcAft>
            </a:pPr>
            <a:r>
              <a:rPr sz="1050" b="0">
                <a:solidFill>
                  <a:srgbClr val="A7B3C4"/>
                </a:solidFill>
                <a:latin typeface="맑은 고딕"/>
                <a:ea typeface="맑은 고딕"/>
                <a:cs typeface="맑은 고딕"/>
              </a:rPr>
              <a:t>지금까지의 확인은 제가 만든 데이터로 한 것입니다. 안전 규칙이 실제로 부상을 막는지는 아직 알 수 없습니다.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>
                <a:solidFill>
                  <a:srgbClr val="6D7B8D"/>
                </a:solidFill>
                <a:latin typeface="맑은 고딕"/>
                <a:ea typeface="맑은 고딕"/>
                <a:cs typeface="맑은 고딕"/>
              </a:rPr>
              <a:t>소수라도 몇 주 써 보게 하고, 중도 이탈 지점과 재배치가 실제로 도움이 됐는지를 봐야 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37160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5DCAA5"/>
                </a:solidFill>
                <a:latin typeface="Consolas"/>
                <a:ea typeface="Consolas"/>
                <a:cs typeface="Consolas"/>
              </a:rP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920240"/>
            <a:ext cx="11057839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계획을 지키게 만드는 건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>
                <a:solidFill>
                  <a:srgbClr val="F0996B"/>
                </a:solidFill>
                <a:latin typeface="맑은 고딕"/>
                <a:ea typeface="맑은 고딕"/>
                <a:cs typeface="맑은 고딕"/>
              </a:rPr>
              <a:t>계획이 아니라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고쳐 잡는 구조였습니다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4983480"/>
            <a:ext cx="11057839" cy="9525"/>
          </a:xfrm>
          <a:prstGeom prst="rect">
            <a:avLst/>
          </a:prstGeom>
          <a:solidFill>
            <a:srgbClr val="2C37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5212080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1">
                <a:solidFill>
                  <a:srgbClr val="6D7B8D"/>
                </a:solidFill>
                <a:latin typeface="Consolas"/>
                <a:ea typeface="Consolas"/>
                <a:cs typeface="Consolas"/>
              </a:rPr>
              <a:t>안전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부상 부위 먼저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55848" y="5212080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1">
                <a:solidFill>
                  <a:srgbClr val="6D7B8D"/>
                </a:solidFill>
                <a:latin typeface="Consolas"/>
                <a:ea typeface="Consolas"/>
                <a:cs typeface="Consolas"/>
              </a:rPr>
              <a:t>연동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운동 강도 따라 식단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44768" y="5212080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1">
                <a:solidFill>
                  <a:srgbClr val="6D7B8D"/>
                </a:solidFill>
                <a:latin typeface="Consolas"/>
                <a:ea typeface="Consolas"/>
                <a:cs typeface="Consolas"/>
              </a:rPr>
              <a:t>복구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못 한 날 자동 재배치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33688" y="5212080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1">
                <a:solidFill>
                  <a:srgbClr val="6D7B8D"/>
                </a:solidFill>
                <a:latin typeface="Consolas"/>
                <a:ea typeface="Consolas"/>
                <a:cs typeface="Consolas"/>
              </a:rPr>
              <a:t>검증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E9EDF3"/>
                </a:solidFill>
                <a:latin typeface="맑은 고딕"/>
                <a:ea typeface="맑은 고딕"/>
                <a:cs typeface="맑은 고딕"/>
              </a:rPr>
              <a:t>24 / 24 응답 일치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2336</Words>
  <Application>Microsoft Office PowerPoint</Application>
  <PresentationFormat>와이드스크린</PresentationFormat>
  <Paragraphs>299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영아 김</cp:lastModifiedBy>
  <cp:revision>3</cp:revision>
  <dcterms:created xsi:type="dcterms:W3CDTF">2013-01-27T09:14:16Z</dcterms:created>
  <dcterms:modified xsi:type="dcterms:W3CDTF">2026-09-03T07:14:10Z</dcterms:modified>
  <cp:category/>
</cp:coreProperties>
</file>